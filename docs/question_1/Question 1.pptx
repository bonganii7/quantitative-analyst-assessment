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thembu, Bongani" userId="cb2c2fa0-5aab-4627-affa-378f227ae35d" providerId="ADAL" clId="{B9CB71C7-4FE8-479E-8185-F96BF606F780}"/>
    <pc:docChg chg="custSel delSld modSld">
      <pc:chgData name="Mthembu, Bongani" userId="cb2c2fa0-5aab-4627-affa-378f227ae35d" providerId="ADAL" clId="{B9CB71C7-4FE8-479E-8185-F96BF606F780}" dt="2026-02-26T20:43:28.473" v="55" actId="47"/>
      <pc:docMkLst>
        <pc:docMk/>
      </pc:docMkLst>
      <pc:sldChg chg="addSp delSp modSp mod">
        <pc:chgData name="Mthembu, Bongani" userId="cb2c2fa0-5aab-4627-affa-378f227ae35d" providerId="ADAL" clId="{B9CB71C7-4FE8-479E-8185-F96BF606F780}" dt="2026-02-26T20:43:17.636" v="53" actId="122"/>
        <pc:sldMkLst>
          <pc:docMk/>
          <pc:sldMk cId="1356410965" sldId="256"/>
        </pc:sldMkLst>
        <pc:spChg chg="mod">
          <ac:chgData name="Mthembu, Bongani" userId="cb2c2fa0-5aab-4627-affa-378f227ae35d" providerId="ADAL" clId="{B9CB71C7-4FE8-479E-8185-F96BF606F780}" dt="2026-02-26T20:43:17.636" v="53" actId="122"/>
          <ac:spMkLst>
            <pc:docMk/>
            <pc:sldMk cId="1356410965" sldId="256"/>
            <ac:spMk id="2" creationId="{823735B4-2BB6-4291-9C3C-A994D1BF545A}"/>
          </ac:spMkLst>
        </pc:spChg>
        <pc:spChg chg="del">
          <ac:chgData name="Mthembu, Bongani" userId="cb2c2fa0-5aab-4627-affa-378f227ae35d" providerId="ADAL" clId="{B9CB71C7-4FE8-479E-8185-F96BF606F780}" dt="2026-02-26T20:42:19.560" v="0" actId="478"/>
          <ac:spMkLst>
            <pc:docMk/>
            <pc:sldMk cId="1356410965" sldId="256"/>
            <ac:spMk id="3" creationId="{61890028-D4D0-4135-AF3A-689523F13AD8}"/>
          </ac:spMkLst>
        </pc:spChg>
        <pc:spChg chg="mod">
          <ac:chgData name="Mthembu, Bongani" userId="cb2c2fa0-5aab-4627-affa-378f227ae35d" providerId="ADAL" clId="{B9CB71C7-4FE8-479E-8185-F96BF606F780}" dt="2026-02-26T20:43:10.730" v="52" actId="6549"/>
          <ac:spMkLst>
            <pc:docMk/>
            <pc:sldMk cId="1356410965" sldId="256"/>
            <ac:spMk id="4" creationId="{22AF5413-678A-435F-B196-7D50E87C39F1}"/>
          </ac:spMkLst>
        </pc:spChg>
        <pc:spChg chg="add del mod">
          <ac:chgData name="Mthembu, Bongani" userId="cb2c2fa0-5aab-4627-affa-378f227ae35d" providerId="ADAL" clId="{B9CB71C7-4FE8-479E-8185-F96BF606F780}" dt="2026-02-26T20:42:44.268" v="12" actId="478"/>
          <ac:spMkLst>
            <pc:docMk/>
            <pc:sldMk cId="1356410965" sldId="256"/>
            <ac:spMk id="7" creationId="{7D715AB7-0DC1-76C8-59E3-F3BCE91DA011}"/>
          </ac:spMkLst>
        </pc:spChg>
        <pc:picChg chg="del">
          <ac:chgData name="Mthembu, Bongani" userId="cb2c2fa0-5aab-4627-affa-378f227ae35d" providerId="ADAL" clId="{B9CB71C7-4FE8-479E-8185-F96BF606F780}" dt="2026-02-26T20:42:26.943" v="1" actId="478"/>
          <ac:picMkLst>
            <pc:docMk/>
            <pc:sldMk cId="1356410965" sldId="256"/>
            <ac:picMk id="6" creationId="{5C346CC6-33D0-4BCC-93A0-8BD78A075326}"/>
          </ac:picMkLst>
        </pc:picChg>
      </pc:sldChg>
      <pc:sldChg chg="del">
        <pc:chgData name="Mthembu, Bongani" userId="cb2c2fa0-5aab-4627-affa-378f227ae35d" providerId="ADAL" clId="{B9CB71C7-4FE8-479E-8185-F96BF606F780}" dt="2026-02-26T20:43:22.847" v="54" actId="47"/>
        <pc:sldMkLst>
          <pc:docMk/>
          <pc:sldMk cId="2885649129" sldId="257"/>
        </pc:sldMkLst>
      </pc:sldChg>
      <pc:sldChg chg="del">
        <pc:chgData name="Mthembu, Bongani" userId="cb2c2fa0-5aab-4627-affa-378f227ae35d" providerId="ADAL" clId="{B9CB71C7-4FE8-479E-8185-F96BF606F780}" dt="2026-02-26T20:43:28.473" v="55" actId="47"/>
        <pc:sldMkLst>
          <pc:docMk/>
          <pc:sldMk cId="302477175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1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6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1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0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5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6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6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5B4-2BB6-4291-9C3C-A994D1BF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101" y="592668"/>
            <a:ext cx="8886512" cy="2370666"/>
          </a:xfrm>
        </p:spPr>
        <p:txBody>
          <a:bodyPr/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AF5413-678A-435F-B196-7D50E87C39F1}"/>
              </a:ext>
            </a:extLst>
          </p:cNvPr>
          <p:cNvSpPr txBox="1">
            <a:spLocks/>
          </p:cNvSpPr>
          <p:nvPr/>
        </p:nvSpPr>
        <p:spPr bwMode="gray">
          <a:xfrm>
            <a:off x="1094101" y="4608046"/>
            <a:ext cx="8825658" cy="438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Bongani Mthembu | 27/02/2026</a:t>
            </a:r>
          </a:p>
        </p:txBody>
      </p:sp>
    </p:spTree>
    <p:extLst>
      <p:ext uri="{BB962C8B-B14F-4D97-AF65-F5344CB8AC3E}">
        <p14:creationId xmlns:p14="http://schemas.microsoft.com/office/powerpoint/2010/main" val="13564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0BB0-AE46-40C7-98B9-C897CF1F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C87E-918B-4F90-84E7-ECF9C093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Approach: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Data Preparation:</a:t>
            </a:r>
            <a:r>
              <a:rPr lang="en-US" sz="1400" dirty="0"/>
              <a:t> Cleaning and handling imbalanced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Feature Engineering:</a:t>
            </a:r>
            <a:r>
              <a:rPr lang="en-US" sz="1400" dirty="0"/>
              <a:t> Domain-specific and statistical analysis (Weight of Evidence and Information value).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Model Selection:</a:t>
            </a:r>
            <a:r>
              <a:rPr lang="en-US" sz="1400" dirty="0"/>
              <a:t> Evaluated Logistic Regression, Random Forest, and </a:t>
            </a:r>
            <a:r>
              <a:rPr lang="en-US" sz="1400" dirty="0" err="1"/>
              <a:t>XGBoost</a:t>
            </a:r>
            <a:r>
              <a:rPr lang="en-US" sz="1400" dirty="0"/>
              <a:t> (final choice).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Evaluation Metrics:</a:t>
            </a:r>
            <a:r>
              <a:rPr lang="en-US" sz="1400" dirty="0"/>
              <a:t> AUC, Gini Coefficient, and KS Statistic.</a:t>
            </a:r>
          </a:p>
        </p:txBody>
      </p:sp>
    </p:spTree>
    <p:extLst>
      <p:ext uri="{BB962C8B-B14F-4D97-AF65-F5344CB8AC3E}">
        <p14:creationId xmlns:p14="http://schemas.microsoft.com/office/powerpoint/2010/main" val="179087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Top predictors: Credit Utilization Ratio, Loan to Income Ratio, and Delinquency Months to Loan Months Ratio.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2094A-BA66-4684-B84A-799A964A0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429001"/>
            <a:ext cx="3784600" cy="30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5656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Achieved exceptional performance with </a:t>
            </a:r>
            <a:r>
              <a:rPr lang="en-US" sz="1400" dirty="0" err="1"/>
              <a:t>XGBoost</a:t>
            </a:r>
            <a:r>
              <a:rPr lang="en-US" sz="1400" dirty="0"/>
              <a:t> Model Under-sampling method using </a:t>
            </a:r>
            <a:r>
              <a:rPr lang="en-US" sz="1400" dirty="0" err="1"/>
              <a:t>Optuna</a:t>
            </a:r>
            <a:r>
              <a:rPr lang="en-US" sz="1400" dirty="0"/>
              <a:t> for parameter tuning (AUC: 0.99, Gini: 0.97, KS: 86.87).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Decile analysis confirmed effective separation of high-risk borrowers.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3186F-F89B-4A7B-BDD6-80E613759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466" y="3979334"/>
            <a:ext cx="2929467" cy="248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55A68-28B5-45E7-81F4-3454BBEB1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50" y="3979333"/>
            <a:ext cx="3994150" cy="22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2A5-992C-414F-8ED0-DE1D0030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Recommendations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7CE4-0BB5-4EF1-BF42-AFBFEF6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Actionable Suggestions: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Integrate the model into the loan approval workflow.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 insights to refine credit policies and risk mitigation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Future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Retrain the model periodically to address data drift.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Explore additional features like macroeconomic indicators.</a:t>
            </a:r>
          </a:p>
        </p:txBody>
      </p:sp>
    </p:spTree>
    <p:extLst>
      <p:ext uri="{BB962C8B-B14F-4D97-AF65-F5344CB8AC3E}">
        <p14:creationId xmlns:p14="http://schemas.microsoft.com/office/powerpoint/2010/main" val="217595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D228-D8F9-4CC9-A314-FB57665D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C7AA-266C-496A-9D9D-88E0B919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Summary: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Developed a robust, interpretable credit risk model with high predictive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Provides actionable insights for improving decision-making and managing defaults.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Call to Action: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Ready for deployment and integration into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328092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9EA1-3887-4F56-AB40-54D1B63F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454-6A0F-4164-9B19-A8CC359A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Questions &amp; Discussion</a:t>
            </a:r>
          </a:p>
          <a:p>
            <a:pPr marL="0" indent="0" algn="ctr">
              <a:buNone/>
            </a:pPr>
            <a:r>
              <a:rPr lang="en-US" dirty="0"/>
              <a:t>We welcome your feedback and queries!</a:t>
            </a:r>
          </a:p>
        </p:txBody>
      </p:sp>
    </p:spTree>
    <p:extLst>
      <p:ext uri="{BB962C8B-B14F-4D97-AF65-F5344CB8AC3E}">
        <p14:creationId xmlns:p14="http://schemas.microsoft.com/office/powerpoint/2010/main" val="3291840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454e0f0d-32fc-4382-ae2d-62fc9cef12cb}" enabled="1" method="Standard" siteId="{8df22a8d-9153-489d-950c-a20cccb656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</TotalTime>
  <Words>230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Century Gothic</vt:lpstr>
      <vt:lpstr>Wingdings</vt:lpstr>
      <vt:lpstr>Wingdings 3</vt:lpstr>
      <vt:lpstr>Ion Boardroom</vt:lpstr>
      <vt:lpstr>Question 1</vt:lpstr>
      <vt:lpstr>Methodology</vt:lpstr>
      <vt:lpstr>Key Findings and Insights</vt:lpstr>
      <vt:lpstr>Key Findings and Insights (Cont.)</vt:lpstr>
      <vt:lpstr>Recommendations and Next Steps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Modeling for Low-Key Finance</dc:title>
  <dc:creator>Nafiul Araf</dc:creator>
  <cp:lastModifiedBy>Mthembu, Bongani</cp:lastModifiedBy>
  <cp:revision>9</cp:revision>
  <dcterms:created xsi:type="dcterms:W3CDTF">2024-12-12T16:50:43Z</dcterms:created>
  <dcterms:modified xsi:type="dcterms:W3CDTF">2026-02-26T20:43:39Z</dcterms:modified>
</cp:coreProperties>
</file>